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ms per frame (CPU)</c:v>
                </c:pt>
              </c:strCache>
            </c:strRef>
          </c:tx>
          <c:spPr>
            <a:solidFill>
              <a:srgbClr val="5B5B6B"/>
            </a:solidFill>
          </c:spPr>
          <c:dPt>
            <c:idx val="5"/>
            <c:spPr>
              <a:solidFill>
                <a:srgbClr val="22D3EE"/>
              </a:solidFill>
            </c:spPr>
          </c:dPt>
          <c:cat>
            <c:strRef>
              <c:f>Sheet1!$A$2:$A$7</c:f>
              <c:strCache>
                <c:ptCount val="6"/>
                <c:pt idx="0">
                  <c:v>Encode &amp; write</c:v>
                </c:pt>
                <c:pt idx="1">
                  <c:v>Compose</c:v>
                </c:pt>
                <c:pt idx="2">
                  <c:v>Crop &amp; upscale</c:v>
                </c:pt>
                <c:pt idx="3">
                  <c:v>Lighting</c:v>
                </c:pt>
                <c:pt idx="4">
                  <c:v>Framing</c:v>
                </c:pt>
                <c:pt idx="5">
                  <c:v>Detection + pose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2.1</c:v>
                </c:pt>
                <c:pt idx="2">
                  <c:v>3.5</c:v>
                </c:pt>
                <c:pt idx="3">
                  <c:v>3.5</c:v>
                </c:pt>
                <c:pt idx="4">
                  <c:v>0.2</c:v>
                </c:pt>
                <c:pt idx="5">
                  <c:v>297.9</c:v>
                </c:pt>
              </c:numCache>
            </c:numRef>
          </c:val>
        </c:ser>
        <c:dLbls>
          <c:numFmt formatCode="0.0&quot; ms&quot;" sourceLinked="0"/>
          <c:txPr>
            <a:bodyPr/>
            <a:lstStyle/>
            <a:p>
              <a:pPr>
                <a:defRPr sz="1200">
                  <a:solidFill>
                    <a:srgbClr val="EBEBF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2A36"/>
            </a:solidFill>
          </a:ln>
        </c:spPr>
        <c:txPr>
          <a:bodyPr/>
          <a:lstStyle/>
          <a:p>
            <a:pPr>
              <a:defRPr sz="1200">
                <a:solidFill>
                  <a:srgbClr val="9A9AA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  <c:min val="0.0"/>
        </c:scaling>
        <c:delete val="0"/>
        <c:axPos val="b"/>
        <c:majorGridlines>
          <c:spPr>
            <a:ln w="6350">
              <a:solidFill>
                <a:srgbClr val="2A2A36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9A9AA8"/>
                    </a:solidFill>
                    <a:latin typeface="Arial"/>
                  </a:rPr>
                  <a:t>median time per frame on CPU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A9AA8"/>
                </a:solidFill>
              </a:defRPr>
            </a:pPr>
          </a:p>
        </c:txPr>
        <c:crossAx val="-2068027336"/>
        <c:crosses val="autoZero"/>
        <c:majorUnit val="100.0"/>
      </c:valAx>
    </c:plotArea>
    <c:dispBlanksAs val="gap"/>
  </c:chart>
  <c:txPr>
    <a:bodyPr/>
    <a:lstStyle/>
    <a:p>
      <a:pPr>
        <a:defRPr sz="1200">
          <a:solidFill>
            <a:srgbClr val="9A9AA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Clip A (5 dancers, warm/white spotlights), 1080p 60 fps. Zoom range and the 0-cut-heads claim come from sampled frames (20 per clip for clips A and C, checked visually), not a frame-by-frame audit. Footage is from a downloaded video: confirm licence and performer consent before public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Clips A, C, D, B: 30 s each from one fixed-camera performance. Clip B is shown on purpose: with a solo dancer and two kneeling performers at the sides the crop stays wide (zoom median 1.48x), which is the lead-performer selection planned for Stage II. Lighting restoration was not quantified on these clips: faces are not over-exposed, so the measured change was about 1% of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Per-stage medians over all five runs (demo2 plus clips A-D). Detection runs every 2nd frame, so the latency median across all frames is lower (about 144-260 ms depending on the clip); ~300 ms is the cost of a frame that runs detection. FPS: 5.7-5.8 on clips A, B and demo2, 4.6 on C, 5.3 on D. Nothing here is measured on UGen300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711182"/>
            <a:ext cx="10972525" cy="609584"/>
          </a:xfrm>
        </p:spPr>
        <p:txBody>
          <a:bodyPr lIns="0" rIns="0" tIns="0" bIns="0" anchor="t" wrap="square"/>
          <a:lstStyle/>
          <a:p>
            <a:pPr algn="l"/>
            <a:r>
              <a:rPr sz="3000" b="0">
                <a:solidFill>
                  <a:srgbClr val="EBEBF0"/>
                </a:solidFill>
                <a:latin typeface="Arial"/>
              </a:rPr>
              <a:t>One fixed camera in, a performer-focused shot out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609584" y="342891"/>
            <a:ext cx="10972525" cy="3555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spc="300">
                <a:solidFill>
                  <a:srgbClr val="22D3EE"/>
                </a:solidFill>
                <a:latin typeface="Arial"/>
              </a:rPr>
              <a:t>– RESULTS · AUTO-FRAMING –</a:t>
            </a:r>
          </a:p>
        </p:txBody>
      </p:sp>
      <p:pic>
        <p:nvPicPr>
          <p:cNvPr id="4" name="Before-after frame" descr="Before: raw fixed-camera frame of five dancers on a wide stage. After: StageLens output, the same dancers framed tightl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" y="1358866"/>
            <a:ext cx="10972800" cy="3499555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609584" y="4913285"/>
            <a:ext cx="1097252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AA8"/>
                </a:solidFill>
                <a:latin typeface="Arial"/>
              </a:rPr>
              <a:t>Left: raw footage. Right: StageLens output. Same clip, no operator.</a:t>
            </a:r>
          </a:p>
        </p:txBody>
      </p:sp>
      <p:sp>
        <p:nvSpPr>
          <p:cNvPr id="6" name="Stat card 1"/>
          <p:cNvSpPr/>
          <p:nvPr/>
        </p:nvSpPr>
        <p:spPr>
          <a:xfrm>
            <a:off x="609584" y="5315621"/>
            <a:ext cx="3538978" cy="868680"/>
          </a:xfrm>
          <a:prstGeom prst="roundRect">
            <a:avLst>
              <a:gd name="adj" fmla="val 1263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rial"/>
              </a:rPr>
              <a:t>1.1×–2.3×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A9AA8"/>
                </a:solidFill>
                <a:latin typeface="Arial"/>
              </a:rPr>
              <a:t>virtual zoom, capped at 2.5×</a:t>
            </a:r>
          </a:p>
        </p:txBody>
      </p:sp>
      <p:sp>
        <p:nvSpPr>
          <p:cNvPr id="7" name="Stat card 2"/>
          <p:cNvSpPr/>
          <p:nvPr/>
        </p:nvSpPr>
        <p:spPr>
          <a:xfrm>
            <a:off x="4326358" y="5315621"/>
            <a:ext cx="3538978" cy="868680"/>
          </a:xfrm>
          <a:prstGeom prst="roundRect">
            <a:avLst>
              <a:gd name="adj" fmla="val 1263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rial"/>
              </a:rPr>
              <a:t>5–6 dancers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A9AA8"/>
                </a:solidFill>
                <a:latin typeface="Arial"/>
              </a:rPr>
              <a:t>kept fully in frame</a:t>
            </a:r>
          </a:p>
        </p:txBody>
      </p:sp>
      <p:sp>
        <p:nvSpPr>
          <p:cNvPr id="8" name="Stat card 3"/>
          <p:cNvSpPr/>
          <p:nvPr/>
        </p:nvSpPr>
        <p:spPr>
          <a:xfrm>
            <a:off x="8043132" y="5315621"/>
            <a:ext cx="3538978" cy="868680"/>
          </a:xfrm>
          <a:prstGeom prst="roundRect">
            <a:avLst>
              <a:gd name="adj" fmla="val 12631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Arial"/>
              </a:rPr>
              <a:t>0 cut heads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A9AA8"/>
                </a:solidFill>
                <a:latin typeface="Arial"/>
              </a:rPr>
              <a:t>in 40 sampled frames</a:t>
            </a:r>
          </a:p>
        </p:txBody>
      </p:sp>
      <p:sp>
        <p:nvSpPr>
          <p:cNvPr id="9" name="Footer note"/>
          <p:cNvSpPr txBox="1"/>
          <p:nvPr/>
        </p:nvSpPr>
        <p:spPr>
          <a:xfrm>
            <a:off x="609584" y="6464138"/>
            <a:ext cx="10972525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9AA8"/>
                </a:solidFill>
                <a:latin typeface="Arial"/>
              </a:rPr>
              <a:t>REAL STAGE FOOTAGE · 1080P 60 FPS · CPU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711182"/>
            <a:ext cx="10972525" cy="609584"/>
          </a:xfrm>
        </p:spPr>
        <p:txBody>
          <a:bodyPr lIns="0" rIns="0" tIns="0" bIns="0" anchor="t" wrap="square"/>
          <a:lstStyle/>
          <a:p>
            <a:pPr algn="l"/>
            <a:r>
              <a:rPr sz="3000" b="0">
                <a:solidFill>
                  <a:srgbClr val="EBEBF0"/>
                </a:solidFill>
                <a:latin typeface="Arial"/>
              </a:rPr>
              <a:t>Works across lighting setups, and we know where it stops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609584" y="342891"/>
            <a:ext cx="10972525" cy="3555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spc="300">
                <a:solidFill>
                  <a:srgbClr val="22D3EE"/>
                </a:solidFill>
                <a:latin typeface="Arial"/>
              </a:rPr>
              <a:t>– RESULTS · ROBUSTNESS –</a:t>
            </a:r>
          </a:p>
        </p:txBody>
      </p:sp>
      <p:graphicFrame>
        <p:nvGraphicFramePr>
          <p:cNvPr id="4" name="Clip comparison table"/>
          <p:cNvGraphicFramePr>
            <a:graphicFrameLocks noGrp="1"/>
          </p:cNvGraphicFramePr>
          <p:nvPr/>
        </p:nvGraphicFramePr>
        <p:xfrm>
          <a:off x="609584" y="1511262"/>
          <a:ext cx="7360920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777240"/>
                <a:gridCol w="3108960"/>
                <a:gridCol w="1234440"/>
                <a:gridCol w="868680"/>
                <a:gridCol w="1371600"/>
              </a:tblGrid>
              <a:tr h="73152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2D3EE"/>
                          </a:solidFill>
                          <a:latin typeface="Arial"/>
                        </a:rPr>
                        <a:t>Clip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2D3EE"/>
                          </a:solidFill>
                          <a:latin typeface="Arial"/>
                        </a:rPr>
                        <a:t>Content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2D3EE"/>
                          </a:solidFill>
                          <a:latin typeface="Arial"/>
                        </a:rPr>
                        <a:t>Dancers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2D3EE"/>
                          </a:solidFill>
                          <a:latin typeface="Arial"/>
                        </a:rPr>
                        <a:t>Zoom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2D3EE"/>
                          </a:solidFill>
                          <a:latin typeface="Arial"/>
                        </a:rPr>
                        <a:t>FPS (CPU)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warm / white spotlights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2.14×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blue light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2.15×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4.6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purple backlight, dark outfits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1.97×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EBEBF0"/>
                          </a:solidFill>
                          <a:latin typeface="Arial"/>
                        </a:rPr>
                        <a:t>5.3</a:t>
                      </a:r>
                    </a:p>
                  </a:txBody>
                  <a:tcPr anchor="ctr" marL="109728" marR="45720" marT="0" marB="0">
                    <a:solidFill>
                      <a:srgbClr val="1414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9A9AA8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9A9AA8"/>
                          </a:solidFill>
                          <a:latin typeface="Arial"/>
                        </a:rPr>
                        <a:t>8 → solo + 2 kneeling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9A9AA8"/>
                          </a:solidFill>
                          <a:latin typeface="Arial"/>
                        </a:rPr>
                        <a:t>8 → 3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9A9AA8"/>
                          </a:solidFill>
                          <a:latin typeface="Arial"/>
                        </a:rPr>
                        <a:t>1.48×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9A9AA8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 anchor="ctr" marL="109728" marR="45720" marT="0" marB="0">
                    <a:solidFill>
                      <a:srgbClr val="0B0B10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609584" y="5278590"/>
            <a:ext cx="7360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AA8"/>
                </a:solidFill>
                <a:latin typeface="Arial"/>
              </a:rPr>
              <a:t>Zoom = median virtual zoom per clip.  B is the current limit: side performers keep the crop wide.</a:t>
            </a:r>
          </a:p>
        </p:txBody>
      </p:sp>
      <p:sp>
        <p:nvSpPr>
          <p:cNvPr id="6" name="Known limits card"/>
          <p:cNvSpPr/>
          <p:nvPr/>
        </p:nvSpPr>
        <p:spPr>
          <a:xfrm>
            <a:off x="8336264" y="1511262"/>
            <a:ext cx="3245845" cy="3657600"/>
          </a:xfrm>
          <a:prstGeom prst="roundRect">
            <a:avLst>
              <a:gd name="adj" fmla="val 3380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28600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EBEBF0"/>
                </a:solidFill>
                <a:latin typeface="Arial"/>
              </a:rPr>
              <a:t>Known limits</a:t>
            </a:r>
          </a:p>
          <a:p>
            <a:pPr algn="l" marL="285750" indent="-285750">
              <a:spcAft>
                <a:spcPts val="1000"/>
              </a:spcAft>
              <a:buClr>
                <a:srgbClr val="22D3EE"/>
              </a:buClr>
              <a:buFont typeface="Arial"/>
              <a:buChar char="•"/>
            </a:pPr>
            <a:r>
              <a:rPr sz="1500" b="0">
                <a:solidFill>
                  <a:srgbClr val="C8C8D2"/>
                </a:solidFill>
                <a:latin typeface="Arial"/>
              </a:rPr>
              <a:t>Crowds wider than 80% of the stage fall back to a full frame</a:t>
            </a:r>
          </a:p>
          <a:p>
            <a:pPr algn="l" marL="285750" indent="-285750">
              <a:spcAft>
                <a:spcPts val="1000"/>
              </a:spcAft>
              <a:buClr>
                <a:srgbClr val="22D3EE"/>
              </a:buClr>
              <a:buFont typeface="Arial"/>
              <a:buChar char="•"/>
            </a:pPr>
            <a:r>
              <a:rPr sz="1500" b="0">
                <a:solidFill>
                  <a:srgbClr val="C8C8D2"/>
                </a:solidFill>
                <a:latin typeface="Arial"/>
              </a:rPr>
              <a:t>A lead performer among side performers is not picked yet → Stage II</a:t>
            </a:r>
          </a:p>
          <a:p>
            <a:pPr algn="l" marL="285750" indent="-285750">
              <a:spcAft>
                <a:spcPts val="1000"/>
              </a:spcAft>
              <a:buClr>
                <a:srgbClr val="22D3EE"/>
              </a:buClr>
              <a:buFont typeface="Arial"/>
              <a:buChar char="•"/>
            </a:pPr>
            <a:r>
              <a:rPr sz="1500" b="0">
                <a:solidFill>
                  <a:srgbClr val="C8C8D2"/>
                </a:solidFill>
                <a:latin typeface="Arial"/>
              </a:rPr>
              <a:t>Lighting restoration needs over-exposed faces; effect is small on wide stage shots</a:t>
            </a:r>
          </a:p>
        </p:txBody>
      </p:sp>
      <p:sp>
        <p:nvSpPr>
          <p:cNvPr id="7" name="Footer note"/>
          <p:cNvSpPr txBox="1"/>
          <p:nvPr/>
        </p:nvSpPr>
        <p:spPr>
          <a:xfrm>
            <a:off x="609584" y="6464138"/>
            <a:ext cx="10972525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9AA8"/>
                </a:solidFill>
                <a:latin typeface="Arial"/>
              </a:rPr>
              <a:t>TESTED ON 4 CLIPS · WARM SPOTS, BLUE LIGHT, PURPLE BACKLIGHT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711182"/>
            <a:ext cx="10972525" cy="609584"/>
          </a:xfrm>
        </p:spPr>
        <p:txBody>
          <a:bodyPr lIns="0" rIns="0" tIns="0" bIns="0" anchor="t" wrap="square"/>
          <a:lstStyle/>
          <a:p>
            <a:pPr algn="l"/>
            <a:r>
              <a:rPr sz="3000" b="0">
                <a:solidFill>
                  <a:srgbClr val="EBEBF0"/>
                </a:solidFill>
                <a:latin typeface="Arial"/>
              </a:rPr>
              <a:t>Detection is ~95% of the time: the part UGen300 takes over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609584" y="342891"/>
            <a:ext cx="10972525" cy="3555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spc="300">
                <a:solidFill>
                  <a:srgbClr val="22D3EE"/>
                </a:solidFill>
                <a:latin typeface="Arial"/>
              </a:rPr>
              <a:t>– RESULTS · PERFORMANCE –</a:t>
            </a:r>
          </a:p>
        </p:txBody>
      </p:sp>
      <p:sp>
        <p:nvSpPr>
          <p:cNvPr id="4" name="Metric card 1"/>
          <p:cNvSpPr/>
          <p:nvPr/>
        </p:nvSpPr>
        <p:spPr>
          <a:xfrm>
            <a:off x="609584" y="1358866"/>
            <a:ext cx="3538978" cy="1600200"/>
          </a:xfrm>
          <a:prstGeom prst="roundRect">
            <a:avLst>
              <a:gd name="adj" fmla="val 6857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AA8"/>
                </a:solidFill>
                <a:latin typeface="Arial"/>
              </a:rPr>
              <a:t>Throughput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Arial"/>
              </a:rPr>
              <a:t>5.7 FPS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BEBF0"/>
                </a:solidFill>
                <a:latin typeface="Arial"/>
              </a:rPr>
              <a:t>CPU prototype, 1080p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A9AA8"/>
                </a:solidFill>
                <a:latin typeface="Arial"/>
              </a:rPr>
              <a:t>target ≥ 30 FPS on UGen300</a:t>
            </a:r>
          </a:p>
        </p:txBody>
      </p:sp>
      <p:sp>
        <p:nvSpPr>
          <p:cNvPr id="5" name="Metric card 2"/>
          <p:cNvSpPr/>
          <p:nvPr/>
        </p:nvSpPr>
        <p:spPr>
          <a:xfrm>
            <a:off x="4326358" y="1358866"/>
            <a:ext cx="3538978" cy="1600200"/>
          </a:xfrm>
          <a:prstGeom prst="roundRect">
            <a:avLst>
              <a:gd name="adj" fmla="val 6857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AA8"/>
                </a:solidFill>
                <a:latin typeface="Arial"/>
              </a:rPr>
              <a:t>Latency (frames with detection)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Arial"/>
              </a:rPr>
              <a:t>~300 ms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BEBF0"/>
                </a:solidFill>
                <a:latin typeface="Arial"/>
              </a:rPr>
              <a:t>median, CPU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A9AA8"/>
                </a:solidFill>
                <a:latin typeface="Arial"/>
              </a:rPr>
              <a:t>target ≤ 100 ms end-to-end</a:t>
            </a:r>
          </a:p>
        </p:txBody>
      </p:sp>
      <p:sp>
        <p:nvSpPr>
          <p:cNvPr id="6" name="Metric card 3"/>
          <p:cNvSpPr/>
          <p:nvPr/>
        </p:nvSpPr>
        <p:spPr>
          <a:xfrm>
            <a:off x="8043132" y="1358866"/>
            <a:ext cx="3538978" cy="1600200"/>
          </a:xfrm>
          <a:prstGeom prst="roundRect">
            <a:avLst>
              <a:gd name="adj" fmla="val 6857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9AA8"/>
                </a:solidFill>
                <a:latin typeface="Arial"/>
              </a:rPr>
              <a:t>Auto-framing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Arial"/>
              </a:rPr>
              <a:t>1.1×–2.3×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BEBF0"/>
                </a:solidFill>
                <a:latin typeface="Arial"/>
              </a:rPr>
              <a:t>zoom range, 4 test clips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A9AA8"/>
                </a:solidFill>
                <a:latin typeface="Arial"/>
              </a:rPr>
              <a:t>40 sampled frames: 0 cut heads</a:t>
            </a:r>
          </a:p>
        </p:txBody>
      </p:sp>
      <p:graphicFrame>
        <p:nvGraphicFramePr>
          <p:cNvPr id="7" name="Stage time breakdown chart"/>
          <p:cNvGraphicFramePr>
            <a:graphicFrameLocks noGrp="1"/>
          </p:cNvGraphicFramePr>
          <p:nvPr/>
        </p:nvGraphicFramePr>
        <p:xfrm>
          <a:off x="609584" y="3187666"/>
          <a:ext cx="7498079" cy="325885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tage II target card"/>
          <p:cNvSpPr/>
          <p:nvPr/>
        </p:nvSpPr>
        <p:spPr>
          <a:xfrm>
            <a:off x="8427704" y="3233386"/>
            <a:ext cx="3154405" cy="3167413"/>
          </a:xfrm>
          <a:prstGeom prst="roundRect">
            <a:avLst>
              <a:gd name="adj" fmla="val 3478"/>
            </a:avLst>
          </a:prstGeom>
          <a:solidFill>
            <a:srgbClr val="14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9AA8"/>
                </a:solidFill>
                <a:latin typeface="Arial"/>
              </a:rPr>
              <a:t>Stage II target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22D3EE"/>
                </a:solidFill>
                <a:latin typeface="Arial"/>
              </a:rPr>
              <a:t>≥ 30 FPS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22D3EE"/>
                </a:solidFill>
                <a:latin typeface="Arial"/>
              </a:rPr>
              <a:t>≤ 100 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BEBF0"/>
                </a:solidFill>
                <a:latin typeface="Arial"/>
              </a:rPr>
              <a:t>measured on UGen300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9AA8"/>
                </a:solidFill>
                <a:latin typeface="Arial"/>
              </a:rPr>
              <a:t>Pose inference every 2nd frame is the bottleneck. Moving it to the NPU frees the CPU for framing and lighting.</a:t>
            </a:r>
          </a:p>
        </p:txBody>
      </p:sp>
      <p:sp>
        <p:nvSpPr>
          <p:cNvPr id="9" name="Footer note"/>
          <p:cNvSpPr txBox="1"/>
          <p:nvPr/>
        </p:nvSpPr>
        <p:spPr>
          <a:xfrm>
            <a:off x="609584" y="6464138"/>
            <a:ext cx="10972525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9AA8"/>
                </a:solidFill>
                <a:latin typeface="Arial"/>
              </a:rPr>
              <a:t>All numbers measured on a CPU prototype; UGen300 results will be added in Stage 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geLens Dark">
  <a:themeElements>
    <a:clrScheme name="Office">
      <a:dk1>
        <a:srgbClr val="0B0B10"/>
      </a:dk1>
      <a:lt1>
        <a:srgbClr val="EBEBF0"/>
      </a:lt1>
      <a:dk2>
        <a:srgbClr val="14141C"/>
      </a:dk2>
      <a:lt2>
        <a:srgbClr val="9A9AA8"/>
      </a:lt2>
      <a:accent1>
        <a:srgbClr val="22D3EE"/>
      </a:accent1>
      <a:accent2>
        <a:srgbClr val="5B5B6B"/>
      </a:accent2>
      <a:accent3>
        <a:srgbClr val="2A2A36"/>
      </a:accent3>
      <a:accent4>
        <a:srgbClr val="C8C8D2"/>
      </a:accent4>
      <a:accent5>
        <a:srgbClr val="22D3EE"/>
      </a:accent5>
      <a:accent6>
        <a:srgbClr val="9A9AA8"/>
      </a:accent6>
      <a:hlink>
        <a:srgbClr val="22D3EE"/>
      </a:hlink>
      <a:folHlink>
        <a:srgbClr val="9A9AA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tageLens Dark">
  <a:themeElements>
    <a:clrScheme name="Office">
      <a:dk1>
        <a:srgbClr val="0B0B10"/>
      </a:dk1>
      <a:lt1>
        <a:srgbClr val="EBEBF0"/>
      </a:lt1>
      <a:dk2>
        <a:srgbClr val="14141C"/>
      </a:dk2>
      <a:lt2>
        <a:srgbClr val="9A9AA8"/>
      </a:lt2>
      <a:accent1>
        <a:srgbClr val="22D3EE"/>
      </a:accent1>
      <a:accent2>
        <a:srgbClr val="5B5B6B"/>
      </a:accent2>
      <a:accent3>
        <a:srgbClr val="2A2A36"/>
      </a:accent3>
      <a:accent4>
        <a:srgbClr val="C8C8D2"/>
      </a:accent4>
      <a:accent5>
        <a:srgbClr val="22D3EE"/>
      </a:accent5>
      <a:accent6>
        <a:srgbClr val="9A9AA8"/>
      </a:accent6>
      <a:hlink>
        <a:srgbClr val="22D3EE"/>
      </a:hlink>
      <a:folHlink>
        <a:srgbClr val="9A9AA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StageLens - Stage I results</dc:title>
  <dc:subject/>
  <dc:creator>StageLens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